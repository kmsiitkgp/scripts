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DA0F2-0216-4D34-87D1-B00D4C68DA06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D65B1-3CB6-4EFD-AA20-92932A462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5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D65B1-3CB6-4EFD-AA20-92932A462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38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D65B1-3CB6-4EFD-AA20-92932A462A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1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8C05-5040-AF31-18DA-A15C57C9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3BE12-2813-1F31-8FD5-55897D342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0ACC8-EAF6-2BCA-01BE-D2767A6C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9328E-49E9-069D-DE2B-22F05AA3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814DD-25A0-7F4D-36C8-E2B5A772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292C-9DD1-24CE-2B30-536817917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794A-0632-B127-41AA-37428B13B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4BA6B-0B03-8835-E378-FAD6FB8D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11203-7064-0E3E-EBBC-4FDF0ED4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0CB91-6E64-89A8-E162-7EED5516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0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D6792-F2BF-24B0-5D31-64F84078B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F90D7-8EB2-98E9-33CC-064458DB6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A74F3-F1B9-3D53-935A-2C3C37D5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38CCA-DCFA-767C-D1C2-32406DD7B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4FF9-4EA3-8319-995A-23FB0E89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6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F44C-1A6D-8839-FBC2-43F7A81E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E2B1-EA17-D819-8BA9-B8790415D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D0664-99DE-3F4E-157E-BD169185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6DE6B-18D8-26EC-E7A3-0AE8DE61C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ABD65-0D41-2FDB-D919-ECA0DD11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FE37-4575-62F6-28DD-378B74FE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0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B688-B999-F706-7D47-62E1AAC62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4D73-36E5-0756-43B9-F22723E0F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D6C5A-309C-CDD3-3A1D-FEB9318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59FF4-0B55-5791-2814-79B58F828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BBAE9-40B3-EFF0-DE50-7EFA55FD5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3705D8-3E66-CFCC-4823-354415C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4DAB9-C4B3-6E89-392C-35B5FD50F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49F9D-8E25-C651-915A-E00D6FEF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8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0E09-DA1E-E91F-A1F3-EF5AC605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B403F-77F0-878A-5C51-750E512F2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C4D61-0901-A022-855E-0E8720110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05064-F417-F53D-7EF6-9AC8D8E7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23D61-839D-8B48-0DE8-B4C95856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697D88-1D6E-6EDA-F913-167620E2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08E13-5E5F-1A6B-D159-89590937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0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D13F-19B5-A281-3826-767B2352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E81F5-0FCA-43F3-6933-EC25FE03E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77548-E65E-3B66-016F-7B17284DC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EDACA-8F97-576F-A337-BA234A1D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60C7F-0A82-E661-B4DD-CAD6ED89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A345E-E25C-9A57-2A9C-A6D12D8F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8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CBE5-07FB-0B60-5E49-7CBF6D88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A3CA1-CFE3-3008-B5E6-13FFA104C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B70F8-A685-A807-6ACF-72A1AD080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0A607-1507-59AF-3071-4F21AC69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76F3B-0A64-99B2-C63A-10E39805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49282-8874-0168-70EB-35FB30EA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3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4D76-ADD4-BF13-F2BE-4FEA9D2D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E7FC9-C8BE-3C4F-3EDD-C6D2EF0E0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4363D-1682-EF2F-B3B2-683F635D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8216E-5981-A4FB-F836-9526B746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EBD68-9357-1FE4-B531-EC0BE180E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9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79045-AFE6-2CDE-FAF2-CBB329A05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E6359-30C3-41A5-5B8A-9D1031112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ECB7E-1B18-CD20-80FF-7C035EDB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655B-1D71-FA57-7B9E-180AF01D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1AEE0-20F6-B805-45D5-9B3652B9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9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0516E-242F-F534-1FD5-E10FCA20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5F2DF-B8E7-48C5-AE36-7AC0F0245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2FFCF-1B41-9318-149B-53DD240E7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1C6CB-B1BC-4758-8719-B046D0657F9A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20717-C6FB-C4C6-83FF-4078969CD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B362E-2514-111D-A954-5EF7EC784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ED068-51CC-468E-A8C9-7AA9018EC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8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C3135EA2-4639-4EF5-B635-3F982440D654}"/>
              </a:ext>
            </a:extLst>
          </p:cNvPr>
          <p:cNvGrpSpPr/>
          <p:nvPr/>
        </p:nvGrpSpPr>
        <p:grpSpPr>
          <a:xfrm>
            <a:off x="2585215" y="198518"/>
            <a:ext cx="6714295" cy="6430882"/>
            <a:chOff x="2585215" y="198518"/>
            <a:chExt cx="6714295" cy="64308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F1C028-FDE2-FC2D-8314-46C930A901A3}"/>
                </a:ext>
              </a:extLst>
            </p:cNvPr>
            <p:cNvSpPr txBox="1"/>
            <p:nvPr/>
          </p:nvSpPr>
          <p:spPr>
            <a:xfrm rot="16200000">
              <a:off x="2400229" y="2271366"/>
              <a:ext cx="739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>
                  <a:latin typeface="Tw Cen MT Condensed" panose="020B0606020104020203" pitchFamily="34" charset="0"/>
                </a:rPr>
                <a:t>IMMUNE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17E40B-00D2-75E1-8310-11F9801A3AF6}"/>
                </a:ext>
              </a:extLst>
            </p:cNvPr>
            <p:cNvSpPr txBox="1"/>
            <p:nvPr/>
          </p:nvSpPr>
          <p:spPr>
            <a:xfrm rot="16200000">
              <a:off x="2224700" y="4816462"/>
              <a:ext cx="1090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>
                  <a:latin typeface="Tw Cen MT Condensed" panose="020B0606020104020203" pitchFamily="34" charset="0"/>
                </a:rPr>
                <a:t>NON-IMMUNE</a:t>
              </a:r>
            </a:p>
          </p:txBody>
        </p:sp>
        <p:pic>
          <p:nvPicPr>
            <p:cNvPr id="5" name="Picture 4" descr="Chart&#10;&#10;Description automatically generated">
              <a:extLst>
                <a:ext uri="{FF2B5EF4-FFF2-40B4-BE49-F238E27FC236}">
                  <a16:creationId xmlns:a16="http://schemas.microsoft.com/office/drawing/2014/main" id="{D14E854C-52FA-1B95-3FB7-96F92E06F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8710" y="228600"/>
              <a:ext cx="6400800" cy="6400800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73DAD14-42AC-0A4D-EF10-05A6D56B3905}"/>
                </a:ext>
              </a:extLst>
            </p:cNvPr>
            <p:cNvCxnSpPr>
              <a:cxnSpLocks/>
            </p:cNvCxnSpPr>
            <p:nvPr/>
          </p:nvCxnSpPr>
          <p:spPr>
            <a:xfrm>
              <a:off x="2785661" y="1567995"/>
              <a:ext cx="5943600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94BB0B1-F5F3-385F-ABD7-DED90C69B186}"/>
                </a:ext>
              </a:extLst>
            </p:cNvPr>
            <p:cNvCxnSpPr>
              <a:cxnSpLocks/>
            </p:cNvCxnSpPr>
            <p:nvPr/>
          </p:nvCxnSpPr>
          <p:spPr>
            <a:xfrm>
              <a:off x="2785661" y="3762259"/>
              <a:ext cx="5943600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B855222-F165-2659-B4DA-41A70CDFCC9B}"/>
                </a:ext>
              </a:extLst>
            </p:cNvPr>
            <p:cNvCxnSpPr>
              <a:cxnSpLocks/>
            </p:cNvCxnSpPr>
            <p:nvPr/>
          </p:nvCxnSpPr>
          <p:spPr>
            <a:xfrm>
              <a:off x="3608621" y="2001793"/>
              <a:ext cx="5120640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4CFD47-366D-2079-2C8F-68BEF28D0B81}"/>
                </a:ext>
              </a:extLst>
            </p:cNvPr>
            <p:cNvCxnSpPr>
              <a:cxnSpLocks/>
            </p:cNvCxnSpPr>
            <p:nvPr/>
          </p:nvCxnSpPr>
          <p:spPr>
            <a:xfrm>
              <a:off x="3608621" y="2456033"/>
              <a:ext cx="5120640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B1432E-9103-8451-FD8E-D3A6FA848831}"/>
                </a:ext>
              </a:extLst>
            </p:cNvPr>
            <p:cNvCxnSpPr>
              <a:cxnSpLocks/>
            </p:cNvCxnSpPr>
            <p:nvPr/>
          </p:nvCxnSpPr>
          <p:spPr>
            <a:xfrm>
              <a:off x="3608621" y="3292015"/>
              <a:ext cx="5120640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A0C406-C179-EC38-4C28-E9E82979ACC6}"/>
                </a:ext>
              </a:extLst>
            </p:cNvPr>
            <p:cNvCxnSpPr>
              <a:cxnSpLocks/>
            </p:cNvCxnSpPr>
            <p:nvPr/>
          </p:nvCxnSpPr>
          <p:spPr>
            <a:xfrm>
              <a:off x="3608621" y="4915153"/>
              <a:ext cx="5120640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1C06ADB-02BF-3AB5-4BA7-36F968DB8CEF}"/>
                </a:ext>
              </a:extLst>
            </p:cNvPr>
            <p:cNvCxnSpPr>
              <a:cxnSpLocks/>
            </p:cNvCxnSpPr>
            <p:nvPr/>
          </p:nvCxnSpPr>
          <p:spPr>
            <a:xfrm>
              <a:off x="3608621" y="5484805"/>
              <a:ext cx="5120640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5DC9D1-728E-0D7F-5AA0-70A31CE11E22}"/>
                </a:ext>
              </a:extLst>
            </p:cNvPr>
            <p:cNvCxnSpPr>
              <a:cxnSpLocks/>
            </p:cNvCxnSpPr>
            <p:nvPr/>
          </p:nvCxnSpPr>
          <p:spPr>
            <a:xfrm>
              <a:off x="3608621" y="5805876"/>
              <a:ext cx="5120640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980895-B1BD-C205-8709-AF09559E67C8}"/>
                </a:ext>
              </a:extLst>
            </p:cNvPr>
            <p:cNvSpPr txBox="1"/>
            <p:nvPr/>
          </p:nvSpPr>
          <p:spPr>
            <a:xfrm rot="16200000">
              <a:off x="2073280" y="710453"/>
              <a:ext cx="1393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u="sng" dirty="0">
                  <a:latin typeface="Tw Cen MT Condensed" panose="020B0606020104020203" pitchFamily="34" charset="0"/>
                </a:rPr>
                <a:t>CONTAMINANTS??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DC47ABB-1757-86B2-D181-C7051B83B8F1}"/>
              </a:ext>
            </a:extLst>
          </p:cNvPr>
          <p:cNvSpPr txBox="1"/>
          <p:nvPr/>
        </p:nvSpPr>
        <p:spPr>
          <a:xfrm>
            <a:off x="156854" y="932217"/>
            <a:ext cx="23281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w Cen MT Condensed" panose="020B0606020104020203" pitchFamily="34" charset="0"/>
              </a:rPr>
              <a:t>Use this to understand</a:t>
            </a:r>
          </a:p>
          <a:p>
            <a:r>
              <a:rPr lang="en-US" dirty="0">
                <a:latin typeface="Tw Cen MT Condensed" panose="020B0606020104020203" pitchFamily="34" charset="0"/>
              </a:rPr>
              <a:t>how clusters were grouped</a:t>
            </a:r>
          </a:p>
          <a:p>
            <a:r>
              <a:rPr lang="en-US" dirty="0">
                <a:latin typeface="Tw Cen MT Condensed" panose="020B0606020104020203" pitchFamily="34" charset="0"/>
              </a:rPr>
              <a:t>to identify good markers</a:t>
            </a:r>
          </a:p>
          <a:p>
            <a:r>
              <a:rPr lang="en-US" dirty="0">
                <a:latin typeface="Tw Cen MT Condensed" panose="020B0606020104020203" pitchFamily="34" charset="0"/>
              </a:rPr>
              <a:t>Using C57B6_BBN samples.</a:t>
            </a:r>
          </a:p>
          <a:p>
            <a:endParaRPr lang="en-US" dirty="0">
              <a:latin typeface="Tw Cen MT Condensed" panose="020B0606020104020203" pitchFamily="34" charset="0"/>
            </a:endParaRPr>
          </a:p>
          <a:p>
            <a:r>
              <a:rPr lang="en-US" dirty="0">
                <a:latin typeface="Tw Cen MT Condensed" panose="020B0606020104020203" pitchFamily="34" charset="0"/>
              </a:rPr>
              <a:t>Similar, strategy can be used to</a:t>
            </a:r>
          </a:p>
          <a:p>
            <a:pPr marL="400050" indent="-400050">
              <a:buAutoNum type="romanLcParenBoth"/>
            </a:pPr>
            <a:r>
              <a:rPr lang="en-US" dirty="0">
                <a:latin typeface="Tw Cen MT Condensed" panose="020B0606020104020203" pitchFamily="34" charset="0"/>
              </a:rPr>
              <a:t>identify contaminants </a:t>
            </a:r>
          </a:p>
          <a:p>
            <a:pPr marL="400050" indent="-400050">
              <a:buAutoNum type="romanLcParenBoth"/>
            </a:pPr>
            <a:r>
              <a:rPr lang="en-US" dirty="0">
                <a:latin typeface="Tw Cen MT Condensed" panose="020B0606020104020203" pitchFamily="34" charset="0"/>
              </a:rPr>
              <a:t>understand lineage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E36B1B-98CE-B71A-3476-5D3F18EAC793}"/>
              </a:ext>
            </a:extLst>
          </p:cNvPr>
          <p:cNvGrpSpPr/>
          <p:nvPr/>
        </p:nvGrpSpPr>
        <p:grpSpPr>
          <a:xfrm>
            <a:off x="3586854" y="1031621"/>
            <a:ext cx="5120640" cy="3271796"/>
            <a:chOff x="3586854" y="1031621"/>
            <a:chExt cx="5120640" cy="327179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4451E7-BA96-494C-C400-00D683406DB5}"/>
                </a:ext>
              </a:extLst>
            </p:cNvPr>
            <p:cNvSpPr/>
            <p:nvPr/>
          </p:nvSpPr>
          <p:spPr>
            <a:xfrm>
              <a:off x="3586854" y="4232503"/>
              <a:ext cx="5120640" cy="70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B49E5B7-172A-2A2E-3568-E150FED6BAB9}"/>
                </a:ext>
              </a:extLst>
            </p:cNvPr>
            <p:cNvSpPr/>
            <p:nvPr/>
          </p:nvSpPr>
          <p:spPr>
            <a:xfrm>
              <a:off x="3586854" y="3780401"/>
              <a:ext cx="5120640" cy="1738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57A2C7-4462-7297-BA6C-2C48555CAC6D}"/>
                </a:ext>
              </a:extLst>
            </p:cNvPr>
            <p:cNvSpPr/>
            <p:nvPr/>
          </p:nvSpPr>
          <p:spPr>
            <a:xfrm>
              <a:off x="3586854" y="2564560"/>
              <a:ext cx="5120640" cy="709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C9997B-C5AF-9AC2-0D46-4AD6AC3A90F7}"/>
                </a:ext>
              </a:extLst>
            </p:cNvPr>
            <p:cNvSpPr/>
            <p:nvPr/>
          </p:nvSpPr>
          <p:spPr>
            <a:xfrm>
              <a:off x="3586854" y="3297687"/>
              <a:ext cx="5120640" cy="4369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2B380A-0B1A-019B-BDD1-10D5A54D746E}"/>
                </a:ext>
              </a:extLst>
            </p:cNvPr>
            <p:cNvSpPr/>
            <p:nvPr/>
          </p:nvSpPr>
          <p:spPr>
            <a:xfrm>
              <a:off x="3586854" y="1031621"/>
              <a:ext cx="5120640" cy="5030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7DF5E9-6D35-BE6C-442A-FA9A83B2F8C7}"/>
              </a:ext>
            </a:extLst>
          </p:cNvPr>
          <p:cNvGrpSpPr/>
          <p:nvPr/>
        </p:nvGrpSpPr>
        <p:grpSpPr>
          <a:xfrm>
            <a:off x="3586854" y="816827"/>
            <a:ext cx="4655708" cy="5443665"/>
            <a:chOff x="3586854" y="816827"/>
            <a:chExt cx="4655708" cy="54436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9DFF3C-3B7A-3F03-A492-43FDA3488FA1}"/>
                </a:ext>
              </a:extLst>
            </p:cNvPr>
            <p:cNvSpPr txBox="1"/>
            <p:nvPr/>
          </p:nvSpPr>
          <p:spPr>
            <a:xfrm>
              <a:off x="3590968" y="1637878"/>
              <a:ext cx="23431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MDSC (Myeloid Derived suppressor cells)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0D5997-570D-8E19-722A-CEAC27BADDE5}"/>
                </a:ext>
              </a:extLst>
            </p:cNvPr>
            <p:cNvSpPr txBox="1"/>
            <p:nvPr/>
          </p:nvSpPr>
          <p:spPr>
            <a:xfrm>
              <a:off x="3590968" y="2753960"/>
              <a:ext cx="15365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LYMPHOID (B, T, NK cells)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7B88F4-BD83-0E75-8885-52BBFE68BA28}"/>
                </a:ext>
              </a:extLst>
            </p:cNvPr>
            <p:cNvSpPr txBox="1"/>
            <p:nvPr/>
          </p:nvSpPr>
          <p:spPr>
            <a:xfrm>
              <a:off x="3590968" y="2104370"/>
              <a:ext cx="22610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MYELOID (Macrophages, Dendritic cells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90A805-8C49-B221-15CD-CC08C9373CC3}"/>
                </a:ext>
              </a:extLst>
            </p:cNvPr>
            <p:cNvSpPr txBox="1"/>
            <p:nvPr/>
          </p:nvSpPr>
          <p:spPr>
            <a:xfrm>
              <a:off x="3590968" y="3307928"/>
              <a:ext cx="44657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Mix of lymphoid &amp; myeloid cells </a:t>
              </a:r>
            </a:p>
            <a:p>
              <a:r>
                <a:rPr lang="en-US" sz="1200" b="1" dirty="0">
                  <a:latin typeface="Tw Cen MT Condensed" panose="020B0606020104020203" pitchFamily="34" charset="0"/>
                </a:rPr>
                <a:t>(close to myeloid cluster in UMAP but clustered with lymphoid cells in heatmap)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793249-FBE0-2A19-49B5-69ED2DAD9146}"/>
                </a:ext>
              </a:extLst>
            </p:cNvPr>
            <p:cNvSpPr txBox="1"/>
            <p:nvPr/>
          </p:nvSpPr>
          <p:spPr>
            <a:xfrm>
              <a:off x="3590968" y="5983493"/>
              <a:ext cx="465159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FIBROBLASTS (likely myofibroblasts as they are clustered with myocytes (cluster 36)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BE6428-2969-DC4D-D15F-58CCC1301EE8}"/>
                </a:ext>
              </a:extLst>
            </p:cNvPr>
            <p:cNvSpPr txBox="1"/>
            <p:nvPr/>
          </p:nvSpPr>
          <p:spPr>
            <a:xfrm>
              <a:off x="3590968" y="5512436"/>
              <a:ext cx="91909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ENDOTHELIAL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B9801AF-5D9A-0B93-EC88-6F87CDFF0D6A}"/>
                </a:ext>
              </a:extLst>
            </p:cNvPr>
            <p:cNvSpPr txBox="1"/>
            <p:nvPr/>
          </p:nvSpPr>
          <p:spPr>
            <a:xfrm>
              <a:off x="3590968" y="4390464"/>
              <a:ext cx="78899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EPITHELIAL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654C297-815C-AD34-82A2-347BCA24E48C}"/>
                </a:ext>
              </a:extLst>
            </p:cNvPr>
            <p:cNvSpPr txBox="1"/>
            <p:nvPr/>
          </p:nvSpPr>
          <p:spPr>
            <a:xfrm>
              <a:off x="3590968" y="5051819"/>
              <a:ext cx="89697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FIBROBLASTS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0C338D2-71FA-137D-75A5-471ACB7B2A39}"/>
                </a:ext>
              </a:extLst>
            </p:cNvPr>
            <p:cNvSpPr txBox="1"/>
            <p:nvPr/>
          </p:nvSpPr>
          <p:spPr>
            <a:xfrm>
              <a:off x="3586854" y="1203786"/>
              <a:ext cx="415645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Likely a mixture of multiple cell types or rare cell types like neurons, etc..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E421064-7C84-A08C-B3ED-08F356AAE30A}"/>
                </a:ext>
              </a:extLst>
            </p:cNvPr>
            <p:cNvSpPr txBox="1"/>
            <p:nvPr/>
          </p:nvSpPr>
          <p:spPr>
            <a:xfrm>
              <a:off x="3586854" y="816827"/>
              <a:ext cx="6289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Neurons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0496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6E47122C-58CC-F9E9-ECE3-B4989AE30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228600"/>
            <a:ext cx="6400800" cy="6400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7F5BBA-7CC1-D3D3-D1F5-A81EF134B6A0}"/>
              </a:ext>
            </a:extLst>
          </p:cNvPr>
          <p:cNvSpPr txBox="1"/>
          <p:nvPr/>
        </p:nvSpPr>
        <p:spPr>
          <a:xfrm rot="16200000">
            <a:off x="2602207" y="2271366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w Cen MT Condensed" panose="020B0606020104020203" pitchFamily="34" charset="0"/>
              </a:rPr>
              <a:t>??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32B4B3-3BB4-124B-39D1-A7679A30569F}"/>
              </a:ext>
            </a:extLst>
          </p:cNvPr>
          <p:cNvSpPr txBox="1"/>
          <p:nvPr/>
        </p:nvSpPr>
        <p:spPr>
          <a:xfrm rot="16200000">
            <a:off x="2602207" y="4816462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w Cen MT Condensed" panose="020B0606020104020203" pitchFamily="34" charset="0"/>
              </a:rPr>
              <a:t>??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77B7B3-240F-F8EC-3643-34B7A80AFBC9}"/>
              </a:ext>
            </a:extLst>
          </p:cNvPr>
          <p:cNvCxnSpPr>
            <a:cxnSpLocks/>
          </p:cNvCxnSpPr>
          <p:nvPr/>
        </p:nvCxnSpPr>
        <p:spPr>
          <a:xfrm>
            <a:off x="2785661" y="1124108"/>
            <a:ext cx="59436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30AA7E-3A65-3577-FE58-E4E2B40F0E21}"/>
              </a:ext>
            </a:extLst>
          </p:cNvPr>
          <p:cNvCxnSpPr>
            <a:cxnSpLocks/>
          </p:cNvCxnSpPr>
          <p:nvPr/>
        </p:nvCxnSpPr>
        <p:spPr>
          <a:xfrm>
            <a:off x="3608621" y="2001793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BE2DBA5-9564-92A7-0179-D7C3293B4EFA}"/>
              </a:ext>
            </a:extLst>
          </p:cNvPr>
          <p:cNvCxnSpPr>
            <a:cxnSpLocks/>
          </p:cNvCxnSpPr>
          <p:nvPr/>
        </p:nvCxnSpPr>
        <p:spPr>
          <a:xfrm>
            <a:off x="3608621" y="2402765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197AF8-8900-569F-098F-19ACB60EC342}"/>
              </a:ext>
            </a:extLst>
          </p:cNvPr>
          <p:cNvCxnSpPr>
            <a:cxnSpLocks/>
          </p:cNvCxnSpPr>
          <p:nvPr/>
        </p:nvCxnSpPr>
        <p:spPr>
          <a:xfrm>
            <a:off x="3608621" y="3105580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284D1E-04B8-822C-11F5-5C236BC693BE}"/>
              </a:ext>
            </a:extLst>
          </p:cNvPr>
          <p:cNvCxnSpPr>
            <a:cxnSpLocks/>
          </p:cNvCxnSpPr>
          <p:nvPr/>
        </p:nvCxnSpPr>
        <p:spPr>
          <a:xfrm>
            <a:off x="3608621" y="3823201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FEE8E4-9817-FB33-F14E-D0629B088A20}"/>
              </a:ext>
            </a:extLst>
          </p:cNvPr>
          <p:cNvCxnSpPr>
            <a:cxnSpLocks/>
          </p:cNvCxnSpPr>
          <p:nvPr/>
        </p:nvCxnSpPr>
        <p:spPr>
          <a:xfrm>
            <a:off x="3608621" y="4383971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CD801F-8729-1393-B874-09A13325365A}"/>
              </a:ext>
            </a:extLst>
          </p:cNvPr>
          <p:cNvCxnSpPr>
            <a:cxnSpLocks/>
          </p:cNvCxnSpPr>
          <p:nvPr/>
        </p:nvCxnSpPr>
        <p:spPr>
          <a:xfrm>
            <a:off x="3608621" y="5805876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B10822-CE09-48C2-B9A7-FA766F81671C}"/>
              </a:ext>
            </a:extLst>
          </p:cNvPr>
          <p:cNvSpPr txBox="1"/>
          <p:nvPr/>
        </p:nvSpPr>
        <p:spPr>
          <a:xfrm rot="16200000">
            <a:off x="2602207" y="710453"/>
            <a:ext cx="3353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u="sng" dirty="0">
                <a:latin typeface="Tw Cen MT Condensed" panose="020B0606020104020203" pitchFamily="34" charset="0"/>
              </a:rPr>
              <a:t>??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3435437-076A-A7D9-4C02-D46D190B51A9}"/>
              </a:ext>
            </a:extLst>
          </p:cNvPr>
          <p:cNvCxnSpPr>
            <a:cxnSpLocks/>
          </p:cNvCxnSpPr>
          <p:nvPr/>
        </p:nvCxnSpPr>
        <p:spPr>
          <a:xfrm>
            <a:off x="3608621" y="5273218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DA3CD8-5DFD-567D-8773-9656D3E4FE9C}"/>
              </a:ext>
            </a:extLst>
          </p:cNvPr>
          <p:cNvCxnSpPr>
            <a:cxnSpLocks/>
          </p:cNvCxnSpPr>
          <p:nvPr/>
        </p:nvCxnSpPr>
        <p:spPr>
          <a:xfrm>
            <a:off x="3608621" y="5443373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758E004-C4F1-3D8D-DE8C-455870688A2C}"/>
              </a:ext>
            </a:extLst>
          </p:cNvPr>
          <p:cNvSpPr/>
          <p:nvPr/>
        </p:nvSpPr>
        <p:spPr>
          <a:xfrm>
            <a:off x="3593525" y="5853893"/>
            <a:ext cx="5074920" cy="137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15B342-DB33-9043-3956-DD282255AD28}"/>
              </a:ext>
            </a:extLst>
          </p:cNvPr>
          <p:cNvSpPr/>
          <p:nvPr/>
        </p:nvSpPr>
        <p:spPr>
          <a:xfrm>
            <a:off x="3593525" y="4408556"/>
            <a:ext cx="5074920" cy="137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76449F-32DD-AF0E-64AB-0F753B4DA1BB}"/>
              </a:ext>
            </a:extLst>
          </p:cNvPr>
          <p:cNvSpPr/>
          <p:nvPr/>
        </p:nvSpPr>
        <p:spPr>
          <a:xfrm>
            <a:off x="3593525" y="2032175"/>
            <a:ext cx="5074920" cy="325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0DA99C-8BD6-6D7E-537B-EA162176AC05}"/>
              </a:ext>
            </a:extLst>
          </p:cNvPr>
          <p:cNvSpPr/>
          <p:nvPr/>
        </p:nvSpPr>
        <p:spPr>
          <a:xfrm>
            <a:off x="3593525" y="3860351"/>
            <a:ext cx="5074920" cy="137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1D8A35D-347E-88B3-CBCD-1E84409260A0}"/>
              </a:ext>
            </a:extLst>
          </p:cNvPr>
          <p:cNvCxnSpPr>
            <a:cxnSpLocks/>
          </p:cNvCxnSpPr>
          <p:nvPr/>
        </p:nvCxnSpPr>
        <p:spPr>
          <a:xfrm>
            <a:off x="3608621" y="3478451"/>
            <a:ext cx="5120640" cy="0"/>
          </a:xfrm>
          <a:prstGeom prst="line">
            <a:avLst/>
          </a:prstGeom>
          <a:ln w="38100">
            <a:solidFill>
              <a:srgbClr val="7030A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36562DD-3E61-D50A-DEC8-19BC5D0D49C4}"/>
              </a:ext>
            </a:extLst>
          </p:cNvPr>
          <p:cNvGrpSpPr/>
          <p:nvPr/>
        </p:nvGrpSpPr>
        <p:grpSpPr>
          <a:xfrm>
            <a:off x="3716692" y="1424451"/>
            <a:ext cx="599780" cy="4931687"/>
            <a:chOff x="3716692" y="1424451"/>
            <a:chExt cx="599780" cy="493168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2DFF73-AF10-BD3A-3F18-16D208C7026C}"/>
                </a:ext>
              </a:extLst>
            </p:cNvPr>
            <p:cNvSpPr txBox="1"/>
            <p:nvPr/>
          </p:nvSpPr>
          <p:spPr>
            <a:xfrm>
              <a:off x="3716692" y="1424451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49F5EF6-D9D3-D0E4-039F-A53B13FA8061}"/>
                </a:ext>
              </a:extLst>
            </p:cNvPr>
            <p:cNvSpPr txBox="1"/>
            <p:nvPr/>
          </p:nvSpPr>
          <p:spPr>
            <a:xfrm>
              <a:off x="3716692" y="3980766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E3F9C4-0FDD-3B83-9785-64784D8DD097}"/>
                </a:ext>
              </a:extLst>
            </p:cNvPr>
            <p:cNvSpPr txBox="1"/>
            <p:nvPr/>
          </p:nvSpPr>
          <p:spPr>
            <a:xfrm>
              <a:off x="3716692" y="6079139"/>
              <a:ext cx="59978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10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9CE8D7-E756-1019-9CBA-8A8978403F56}"/>
                </a:ext>
              </a:extLst>
            </p:cNvPr>
            <p:cNvSpPr txBox="1"/>
            <p:nvPr/>
          </p:nvSpPr>
          <p:spPr>
            <a:xfrm>
              <a:off x="3716692" y="5486125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9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B6FC93E-9029-EEF6-06E3-08BD32494614}"/>
                </a:ext>
              </a:extLst>
            </p:cNvPr>
            <p:cNvSpPr txBox="1"/>
            <p:nvPr/>
          </p:nvSpPr>
          <p:spPr>
            <a:xfrm>
              <a:off x="3716692" y="5210995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8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17984DB-C83E-0018-128E-E8420C303889}"/>
                </a:ext>
              </a:extLst>
            </p:cNvPr>
            <p:cNvSpPr txBox="1"/>
            <p:nvPr/>
          </p:nvSpPr>
          <p:spPr>
            <a:xfrm>
              <a:off x="3716692" y="5049251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F76D8B-C32A-B6C4-44BA-7ED187C81067}"/>
                </a:ext>
              </a:extLst>
            </p:cNvPr>
            <p:cNvSpPr txBox="1"/>
            <p:nvPr/>
          </p:nvSpPr>
          <p:spPr>
            <a:xfrm>
              <a:off x="3716692" y="3167608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F64A6A-7D2D-25DE-D14C-C17D1A12CF95}"/>
                </a:ext>
              </a:extLst>
            </p:cNvPr>
            <p:cNvSpPr txBox="1"/>
            <p:nvPr/>
          </p:nvSpPr>
          <p:spPr>
            <a:xfrm>
              <a:off x="3716692" y="3504202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4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2165EA-841F-BBB0-3732-9837A9DA620D}"/>
                </a:ext>
              </a:extLst>
            </p:cNvPr>
            <p:cNvSpPr txBox="1"/>
            <p:nvPr/>
          </p:nvSpPr>
          <p:spPr>
            <a:xfrm>
              <a:off x="3716692" y="2627497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62CD4F5-F065-5121-0CB2-112FFB3F01EC}"/>
                </a:ext>
              </a:extLst>
            </p:cNvPr>
            <p:cNvSpPr txBox="1"/>
            <p:nvPr/>
          </p:nvSpPr>
          <p:spPr>
            <a:xfrm>
              <a:off x="3716692" y="4595391"/>
              <a:ext cx="53245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w Cen MT Condensed" panose="020B0606020104020203" pitchFamily="34" charset="0"/>
                </a:rPr>
                <a:t>Type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6753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135</Words>
  <Application>Microsoft Office PowerPoint</Application>
  <PresentationFormat>Widescreen</PresentationFormat>
  <Paragraphs>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Tw Cen MT Condensed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Kailasam Mani, Saravana Kumar</dc:creator>
  <cp:lastModifiedBy>Kailasam Mani, Saravana Kumar</cp:lastModifiedBy>
  <cp:revision>7</cp:revision>
  <dcterms:created xsi:type="dcterms:W3CDTF">2023-03-23T18:14:29Z</dcterms:created>
  <dcterms:modified xsi:type="dcterms:W3CDTF">2023-03-28T17:49:56Z</dcterms:modified>
</cp:coreProperties>
</file>